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Google Sans Flex Medium"/>
      <p:regular r:id="rId21"/>
      <p:bold r:id="rId22"/>
    </p:embeddedFont>
    <p:embeddedFont>
      <p:font typeface="Google Sans Flex"/>
      <p:regular r:id="rId23"/>
      <p:bold r:id="rId24"/>
    </p:embeddedFont>
    <p:embeddedFont>
      <p:font typeface="Google Sans Flex SemiBold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jvGMDY7yGdesQ0gq9It+AAcUMA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ogleSansFlexMedium-bold.fntdata"/><Relationship Id="rId21" Type="http://schemas.openxmlformats.org/officeDocument/2006/relationships/font" Target="fonts/GoogleSansFlexMedium-regular.fntdata"/><Relationship Id="rId24" Type="http://schemas.openxmlformats.org/officeDocument/2006/relationships/font" Target="fonts/GoogleSansFlex-bold.fntdata"/><Relationship Id="rId23" Type="http://schemas.openxmlformats.org/officeDocument/2006/relationships/font" Target="fonts/GoogleSansFlex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FlexSemiBold-bold.fntdata"/><Relationship Id="rId25" Type="http://schemas.openxmlformats.org/officeDocument/2006/relationships/font" Target="fonts/GoogleSansFlexSemiBold-regular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1696f1fbce9d355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h1696f1fbce9d355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mealqc_105c6bead60e117c664ea21e7bcaa0b7.png"/><Relationship Id="rId6" Type="http://schemas.openxmlformats.org/officeDocument/2006/relationships/image" Target="../media/mealqc_6bbe92b40e26950a29a715cce11b0597.png"/><Relationship Id="rId7" Type="http://schemas.openxmlformats.org/officeDocument/2006/relationships/image" Target="../media/mealqc_026b27a96ffd5d4eb5204a22f7d918df.png"/><Relationship Id="rId8" Type="http://schemas.openxmlformats.org/officeDocument/2006/relationships/image" Target="../media/mealqc_4b030a88bed45a5922ff5ef3aeffa06e.png"/><Relationship Id="rId9" Type="http://schemas.openxmlformats.org/officeDocument/2006/relationships/image" Target="../media/mealqc_3fdab51d1e1ec298b5812fac1a5a9ace.png"/><Relationship Id="rId10" Type="http://schemas.openxmlformats.org/officeDocument/2006/relationships/image" Target="../media/mealqc_feeddfe31ac1af61e326372fcd42976b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github.com/noiz354/altuhraK-ai-builder-cup-2026" TargetMode="External"/><Relationship Id="rId6" Type="http://schemas.openxmlformats.org/officeDocument/2006/relationships/hyperlink" Target="https://c05-frontend-723420820074.asia-southeast2.run.app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146600" y="2902700"/>
            <a:ext cx="8760000" cy="20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GB" spc="0" sz="2100" u="none" cap="none" strike="noStrike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b="0" i="0" spc="0" sz="2100" u="none" cap="none" strike="noStrike">
              <a:solidFill>
                <a:srgbClr val="000000"/>
              </a:solidFill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 Flex"/>
              <a:buAutoNum type="alphaLcPeriod"/>
            </a:pPr>
            <a:r>
              <a:rPr b="0" i="0" lang="en-GB" spc="0" sz="1800" u="none" cap="none" strike="noStrike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b="1" i="0" lang="en-GB" spc="0" sz="1800" u="none" cap="none" strike="noStrike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altuh</a:t>
            </a:r>
            <a:r>
              <a:rPr b="1" lang="en-GB" sz="1800">
                <a:latin typeface="Google Sans Flex"/>
                <a:ea typeface="Google Sans Flex"/>
                <a:cs typeface="Google Sans Flex"/>
                <a:sym typeface="Google Sans Flex"/>
              </a:rPr>
              <a:t>raK</a:t>
            </a:r>
            <a:endParaRPr b="1" i="0" spc="0" sz="1800" u="none" cap="none" strike="noStrike">
              <a:solidFill>
                <a:srgbClr val="00000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 Flex"/>
              <a:buAutoNum type="alphaLcPeriod"/>
            </a:pPr>
            <a:r>
              <a:rPr b="0" i="0" lang="en-GB" spc="0" sz="1800" u="none" cap="none" strike="noStrike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b="1" lang="en-GB" sz="1800">
                <a:latin typeface="Google Sans Flex"/>
                <a:ea typeface="Google Sans Flex"/>
                <a:cs typeface="Google Sans Flex"/>
                <a:sym typeface="Google Sans Flex"/>
              </a:rPr>
              <a:t>Normansyah Putra</a:t>
            </a:r>
            <a:endParaRPr b="1" i="0" spc="0" sz="1800" u="none" cap="none" strike="noStrike">
              <a:solidFill>
                <a:srgbClr val="00000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 Flex"/>
              <a:buAutoNum type="alphaLcPeriod"/>
            </a:pPr>
            <a:r>
              <a:rPr b="0" i="0" lang="en-GB" spc="0" sz="1800" u="none" cap="none" strike="noStrike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b="1" lang="en-GB" sz="1800">
                <a:latin typeface="Google Sans Flex"/>
                <a:ea typeface="Google Sans Flex"/>
                <a:cs typeface="Google Sans Flex"/>
                <a:sym typeface="Google Sans Flex"/>
              </a:rPr>
              <a:t>Meal QC, ingredient traceability and Gemini-powered quality control for school-meal kitchens and food businesses, on Google Cloud.</a:t>
            </a:r>
            <a:endParaRPr b="0" i="0" spc="0" sz="18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" title="Frame 14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/>
          <p:nvPr/>
        </p:nvSpPr>
        <p:spPr>
          <a:xfrm>
            <a:off x="206550" y="1748779"/>
            <a:ext cx="2910300" cy="280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rgbClr val="8A5A12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BEFORE COOKING</a:t>
            </a:r>
            <a:endParaRPr b="1" sz="1200">
              <a:solidFill>
                <a:srgbClr val="8A5A12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Nobody knows where the ingredients came from</a:t>
            </a:r>
            <a:r>
              <a:rPr lang="en-GB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</a:t>
            </a:r>
            <a:endParaRPr>
              <a:solidFill>
                <a:schemeClr val="dk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Deliveries are not recorded per lot. When people fall ill, no one can say which supplier, how far the food travelled or how warm it arrived.</a:t>
            </a:r>
            <a:r>
              <a:rPr lang="en-GB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</a:t>
            </a:r>
            <a:endParaRPr/>
          </a:p>
        </p:txBody>
      </p:sp>
      <p:pic>
        <p:nvPicPr>
          <p:cNvPr id="62" name="Google Shape;62;p3" title="Group 42731997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206550" y="663825"/>
            <a:ext cx="87258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GB" sz="1200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PROBLEM</a:t>
            </a:r>
            <a:b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</a:b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Three blind spots in school-meal kitchens</a:t>
            </a:r>
            <a:endParaRPr b="0" i="0" spc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027150" y="1748779"/>
            <a:ext cx="2910300" cy="280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B03A2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AFTER SERVING</a:t>
            </a:r>
            <a:endParaRPr b="1" sz="1200">
              <a:solidFill>
                <a:srgbClr val="B03A2E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Illness reports cannot be checked quickly</a:t>
            </a:r>
            <a:endParaRPr>
              <a:solidFill>
                <a:schemeClr val="dk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Real outbreaks arrive mixed with inflated or copy-pasted claims. Without delivery and ingredient records, sick children wait or kitchens are blamed unfairly.</a:t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3116850" y="1748779"/>
            <a:ext cx="2910300" cy="280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BEFORE SERVING</a:t>
            </a:r>
            <a:endParaRPr b="1" sz="1200">
              <a:solidFill>
                <a:srgbClr val="1F5B45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Meals are checked by eye and not recorded</a:t>
            </a:r>
            <a:endParaRPr>
              <a:solidFill>
                <a:schemeClr val="dk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Quality control happens under time pressure and leaves no trace. A missing protein or vegetable is noticed only after someone has eaten.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h1696f1fbce9d355e_0_3" title="Group 42731997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h1696f1fbce9d355e_0_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h1696f1fbce9d355e_0_3"/>
          <p:cNvSpPr txBox="1"/>
          <p:nvPr/>
        </p:nvSpPr>
        <p:spPr>
          <a:xfrm>
            <a:off x="206550" y="663825"/>
            <a:ext cx="87258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GB" sz="1200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IDEA</a:t>
            </a:r>
            <a:b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</a:b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Know what went into every meal. Gemini checks and explains; people decide.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4" name="Google Shape;74;h1696f1fbce9d355e_0_3"/>
          <p:cNvSpPr/>
          <p:nvPr/>
        </p:nvSpPr>
        <p:spPr>
          <a:xfrm>
            <a:off x="1157700" y="1489902"/>
            <a:ext cx="2910300" cy="133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 · Trace ingredients</a:t>
            </a:r>
            <a:endParaRPr>
              <a:solidFill>
                <a:srgbClr val="1F5B45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Each lot records supplier, origin, travel time, arrival temperature and price.</a:t>
            </a:r>
            <a:endParaRPr/>
          </a:p>
        </p:txBody>
      </p:sp>
      <p:sp>
        <p:nvSpPr>
          <p:cNvPr id="75" name="Google Shape;75;h1696f1fbce9d355e_0_3"/>
          <p:cNvSpPr/>
          <p:nvPr/>
        </p:nvSpPr>
        <p:spPr>
          <a:xfrm>
            <a:off x="5046900" y="1489902"/>
            <a:ext cx="2910300" cy="133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 · Check the tray</a:t>
            </a:r>
            <a:endParaRPr>
              <a:solidFill>
                <a:srgbClr val="1F5B45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Crew photographs each tray; Gemini lists which components are present or missing.</a:t>
            </a:r>
            <a:endParaRPr/>
          </a:p>
        </p:txBody>
      </p:sp>
      <p:sp>
        <p:nvSpPr>
          <p:cNvPr id="76" name="Google Shape;76;h1696f1fbce9d355e_0_3"/>
          <p:cNvSpPr/>
          <p:nvPr/>
        </p:nvSpPr>
        <p:spPr>
          <a:xfrm>
            <a:off x="1157700" y="3280890"/>
            <a:ext cx="2910300" cy="133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 · Review it</a:t>
            </a:r>
            <a:endParaRPr>
              <a:solidFill>
                <a:srgbClr val="1F5B45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supervisor accepts, holds or rejects. Nothing is approved automatically.</a:t>
            </a:r>
            <a:endParaRPr/>
          </a:p>
        </p:txBody>
      </p:sp>
      <p:sp>
        <p:nvSpPr>
          <p:cNvPr id="77" name="Google Shape;77;h1696f1fbce9d355e_0_3"/>
          <p:cNvSpPr/>
          <p:nvPr/>
        </p:nvSpPr>
        <p:spPr>
          <a:xfrm>
            <a:off x="5046900" y="3280877"/>
            <a:ext cx="2910300" cy="133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4 · Triage reports</a:t>
            </a:r>
            <a:endParaRPr>
              <a:solidFill>
                <a:srgbClr val="1F5B45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Illness reports are checked against what was served and traced back to suppliers.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4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MealQC 1001"/>
          <p:cNvSpPr txBox="1"/>
          <p:nvPr/>
        </p:nvSpPr>
        <p:spPr>
          <a:xfrm>
            <a:off x="298094" y="755294"/>
            <a:ext cx="85404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OPPORTUNITIES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>
                <a:solidFill>
                  <a:schemeClr val="dk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Why Meal QC is different</a:t>
            </a:r>
          </a:p>
        </p:txBody>
      </p:sp>
      <p:sp>
        <p:nvSpPr>
          <p:cNvPr id="1002" name="MealQC 1002"/>
          <p:cNvSpPr/>
          <p:nvPr/>
        </p:nvSpPr>
        <p:spPr>
          <a:xfrm>
            <a:off x="298094" y="1371600"/>
            <a:ext cx="2696870" cy="2743200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146304" tIns="146304" rIns="146304" bIns="146304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· HOW IS IT DIFFERENT?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Food-QC tools stop at detection; complaint channels only collect messages. Meal QC links the </a:t>
            </a:r>
            <a:r>
              <a:rPr lang="en-GB" sz="13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ingredient lot</a:t>
            </a:r>
            <a:r>
              <a:rPr lang="en-GB" sz="13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, the </a:t>
            </a:r>
            <a:r>
              <a:rPr lang="en-GB" sz="13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tray check</a:t>
            </a:r>
            <a:r>
              <a:rPr lang="en-GB" sz="13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, the </a:t>
            </a:r>
            <a:r>
              <a:rPr lang="en-GB" sz="13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delivery record</a:t>
            </a:r>
            <a:r>
              <a:rPr lang="en-GB" sz="13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 and the </a:t>
            </a:r>
            <a:r>
              <a:rPr lang="en-GB" sz="13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illness report</a:t>
            </a:r>
            <a:r>
              <a:rPr lang="en-GB" sz="13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 in one audited flow.</a:t>
            </a:r>
          </a:p>
        </p:txBody>
      </p:sp>
      <p:sp>
        <p:nvSpPr>
          <p:cNvPr id="1003" name="MealQC 1003"/>
          <p:cNvSpPr/>
          <p:nvPr/>
        </p:nvSpPr>
        <p:spPr>
          <a:xfrm>
            <a:off x="3223565" y="1371600"/>
            <a:ext cx="2696870" cy="2743200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146304" tIns="146304" rIns="146304" bIns="146304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 · HOW DOES IT SOLVE IT?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Supply checks flag warm, late, expiring or overpriced deliveries. Gemini flags a missing component, so the batch is held before it leaves. Illness reports are compared with portions served and traced to suppliers in one click.</a:t>
            </a:r>
          </a:p>
        </p:txBody>
      </p:sp>
      <p:sp>
        <p:nvSpPr>
          <p:cNvPr id="1004" name="MealQC 1004"/>
          <p:cNvSpPr/>
          <p:nvPr/>
        </p:nvSpPr>
        <p:spPr>
          <a:xfrm>
            <a:off x="6149035" y="1371600"/>
            <a:ext cx="2696870" cy="2743200"/>
          </a:xfrm>
          <a:prstGeom prst="rect">
            <a:avLst/>
          </a:prstGeom>
          <a:solidFill>
            <a:srgbClr val="16211C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 b="1">
                <a:solidFill>
                  <a:srgbClr val="7FD1A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 · UNIQUE SELLING POINT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Supplier-to-plate, health first. </a:t>
            </a:r>
            <a:r>
              <a:rPr lang="en-GB" sz="1300" b="0">
                <a:solidFill>
                  <a:srgbClr val="E6EC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Any meal traces back to its suppliers. Conflicts never lower medical priority. Gemini explains but cannot accuse, score or close a case.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5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MealQC 1005"/>
          <p:cNvSpPr txBox="1"/>
          <p:nvPr/>
        </p:nvSpPr>
        <p:spPr>
          <a:xfrm>
            <a:off x="298094" y="755294"/>
            <a:ext cx="85404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FEATURES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>
                <a:solidFill>
                  <a:schemeClr val="dk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Eight features, one record</a:t>
            </a:r>
          </a:p>
        </p:txBody>
      </p:sp>
      <p:sp>
        <p:nvSpPr>
          <p:cNvPr id="1006" name="MealQC 1006"/>
          <p:cNvSpPr/>
          <p:nvPr/>
        </p:nvSpPr>
        <p:spPr>
          <a:xfrm>
            <a:off x="298094" y="1371600"/>
            <a:ext cx="2013509" cy="1371600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200" b="1">
                <a:solidFill>
                  <a:srgbClr val="8A5A12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Lot traceability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Supplier, origin, distance, transit time, arrival temperature and price per lot.</a:t>
            </a:r>
          </a:p>
        </p:txBody>
      </p:sp>
      <p:sp>
        <p:nvSpPr>
          <p:cNvPr id="1007" name="MealQC 1007"/>
          <p:cNvSpPr/>
          <p:nvPr/>
        </p:nvSpPr>
        <p:spPr>
          <a:xfrm>
            <a:off x="2476195" y="1371600"/>
            <a:ext cx="2013509" cy="1371600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200" b="1">
                <a:solidFill>
                  <a:srgbClr val="8A5A12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Supply insights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Warm arrivals, use-by dates, stock cover, price vs reference, punctuality.</a:t>
            </a:r>
          </a:p>
        </p:txBody>
      </p:sp>
      <p:sp>
        <p:nvSpPr>
          <p:cNvPr id="1008" name="MealQC 1008"/>
          <p:cNvSpPr/>
          <p:nvPr/>
        </p:nvSpPr>
        <p:spPr>
          <a:xfrm>
            <a:off x="4654296" y="1371600"/>
            <a:ext cx="2013509" cy="1371600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2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tray check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Photo vs versioned manifest; structured JSON output.</a:t>
            </a:r>
          </a:p>
        </p:txBody>
      </p:sp>
      <p:sp>
        <p:nvSpPr>
          <p:cNvPr id="1009" name="MealQC 1009"/>
          <p:cNvSpPr/>
          <p:nvPr/>
        </p:nvSpPr>
        <p:spPr>
          <a:xfrm>
            <a:off x="6832397" y="1371600"/>
            <a:ext cx="2013509" cy="1371600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2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Human review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Accept, hold or reject; final, audited, model vs fallback shown.</a:t>
            </a:r>
          </a:p>
        </p:txBody>
      </p:sp>
      <p:sp>
        <p:nvSpPr>
          <p:cNvPr id="1010" name="MealQC 1010"/>
          <p:cNvSpPr/>
          <p:nvPr/>
        </p:nvSpPr>
        <p:spPr>
          <a:xfrm>
            <a:off x="298094" y="2907792"/>
            <a:ext cx="2013509" cy="1371600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200" b="1">
                <a:solidFill>
                  <a:srgbClr val="B03A2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Illness report form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Public, care-first; phones hashed, photos fingerprinted.</a:t>
            </a:r>
          </a:p>
        </p:txBody>
      </p:sp>
      <p:sp>
        <p:nvSpPr>
          <p:cNvPr id="1011" name="MealQC 1011"/>
          <p:cNvSpPr/>
          <p:nvPr/>
        </p:nvSpPr>
        <p:spPr>
          <a:xfrm>
            <a:off x="2476195" y="2907792"/>
            <a:ext cx="2013509" cy="1371600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200" b="1">
                <a:solidFill>
                  <a:srgbClr val="B03A2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Claim integrity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8 checks vs delivery records and between reports; trace to suppliers.</a:t>
            </a:r>
          </a:p>
        </p:txBody>
      </p:sp>
      <p:sp>
        <p:nvSpPr>
          <p:cNvPr id="1012" name="MealQC 1012"/>
          <p:cNvSpPr/>
          <p:nvPr/>
        </p:nvSpPr>
        <p:spPr>
          <a:xfrm>
            <a:off x="4654296" y="2907792"/>
            <a:ext cx="2013509" cy="1371600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200" b="1">
                <a:solidFill>
                  <a:srgbClr val="B03A2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incident summary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Plain-English pattern and checks; cannot change the score.</a:t>
            </a:r>
          </a:p>
        </p:txBody>
      </p:sp>
      <p:sp>
        <p:nvSpPr>
          <p:cNvPr id="1013" name="MealQC 1013"/>
          <p:cNvSpPr/>
          <p:nvPr/>
        </p:nvSpPr>
        <p:spPr>
          <a:xfrm>
            <a:off x="6832397" y="2907792"/>
            <a:ext cx="2013509" cy="1371600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200" b="1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Tuning pipeline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Household-plate dataset to Vertex AI supervised tuning.</a:t>
            </a:r>
          </a:p>
        </p:txBody>
      </p:sp>
      <p:sp>
        <p:nvSpPr>
          <p:cNvPr id="1014" name="MealQC 1014"/>
          <p:cNvSpPr txBox="1"/>
          <p:nvPr/>
        </p:nvSpPr>
        <p:spPr>
          <a:xfrm>
            <a:off x="298094" y="4434840"/>
            <a:ext cx="854781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rgbClr val="8A5A12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Amber </a:t>
            </a:r>
            <a:r>
              <a:rPr lang="en-GB" sz="10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ingredient supply  ·  </a:t>
            </a:r>
            <a:r>
              <a:rPr lang="en-GB" sz="10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Green </a:t>
            </a:r>
            <a:r>
              <a:rPr lang="en-GB" sz="10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tray quality control  ·  </a:t>
            </a:r>
            <a:r>
              <a:rPr lang="en-GB" sz="1000" b="1">
                <a:solidFill>
                  <a:srgbClr val="B03A2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Red </a:t>
            </a:r>
            <a:r>
              <a:rPr lang="en-GB" sz="10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illness-report triage  ·  </a:t>
            </a:r>
            <a:r>
              <a:rPr lang="en-GB" sz="1000" b="1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Grey </a:t>
            </a:r>
            <a:r>
              <a:rPr lang="en-GB" sz="10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learning layer. Plus a built-in guide and help on every screen.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6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MealQC 1015"/>
          <p:cNvSpPr txBox="1"/>
          <p:nvPr/>
        </p:nvSpPr>
        <p:spPr>
          <a:xfrm>
            <a:off x="298094" y="755294"/>
            <a:ext cx="85404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PROCESS FLOW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>
                <a:solidFill>
                  <a:schemeClr val="dk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Supplier to plate, one audit trail</a:t>
            </a:r>
          </a:p>
        </p:txBody>
      </p:sp>
      <p:sp>
        <p:nvSpPr>
          <p:cNvPr id="1016" name="MealQC 1016"/>
          <p:cNvSpPr txBox="1"/>
          <p:nvPr/>
        </p:nvSpPr>
        <p:spPr>
          <a:xfrm>
            <a:off x="298094" y="1298448"/>
            <a:ext cx="8547811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rgbClr val="8A5A12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 · SUPPLY — BEFORE COOKING</a:t>
            </a:r>
          </a:p>
        </p:txBody>
      </p:sp>
      <p:sp>
        <p:nvSpPr>
          <p:cNvPr id="1017" name="MealQC 1017"/>
          <p:cNvSpPr/>
          <p:nvPr/>
        </p:nvSpPr>
        <p:spPr>
          <a:xfrm>
            <a:off x="298094" y="1527048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A5A12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Supplier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ships a lot</a:t>
            </a:r>
          </a:p>
        </p:txBody>
      </p:sp>
      <p:cxnSp>
        <p:nvCxnSpPr>
          <p:cNvPr id="1018" name="MealQC arrow 1018"/>
          <p:cNvCxnSpPr/>
          <p:nvPr/>
        </p:nvCxnSpPr>
        <p:spPr>
          <a:xfrm>
            <a:off x="1742846" y="1778508"/>
            <a:ext cx="219456" cy="0"/>
          </a:xfrm>
          <a:prstGeom prst="straightConnector1">
            <a:avLst/>
          </a:prstGeom>
          <a:ln w="15875">
            <a:solidFill>
              <a:srgbClr val="8A5A12"/>
            </a:solidFill>
            <a:tailEnd type="triangle" w="med" len="med"/>
          </a:ln>
        </p:spPr>
      </p:cxnSp>
      <p:sp>
        <p:nvSpPr>
          <p:cNvPr id="1019" name="MealQC 1019"/>
          <p:cNvSpPr/>
          <p:nvPr/>
        </p:nvSpPr>
        <p:spPr>
          <a:xfrm>
            <a:off x="1989734" y="1527048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A5A12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Kitchen door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origin, time, temp</a:t>
            </a:r>
          </a:p>
        </p:txBody>
      </p:sp>
      <p:cxnSp>
        <p:nvCxnSpPr>
          <p:cNvPr id="1020" name="MealQC arrow 1020"/>
          <p:cNvCxnSpPr/>
          <p:nvPr/>
        </p:nvCxnSpPr>
        <p:spPr>
          <a:xfrm>
            <a:off x="3434486" y="1778508"/>
            <a:ext cx="219456" cy="0"/>
          </a:xfrm>
          <a:prstGeom prst="straightConnector1">
            <a:avLst/>
          </a:prstGeom>
          <a:ln w="15875">
            <a:solidFill>
              <a:srgbClr val="8A5A12"/>
            </a:solidFill>
            <a:tailEnd type="triangle" w="med" len="med"/>
          </a:ln>
        </p:spPr>
      </p:cxnSp>
      <p:sp>
        <p:nvSpPr>
          <p:cNvPr id="1021" name="MealQC 1021"/>
          <p:cNvSpPr/>
          <p:nvPr/>
        </p:nvSpPr>
        <p:spPr>
          <a:xfrm>
            <a:off x="3681374" y="1527048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A5A12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Receiving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accept · return</a:t>
            </a:r>
          </a:p>
        </p:txBody>
      </p:sp>
      <p:cxnSp>
        <p:nvCxnSpPr>
          <p:cNvPr id="1022" name="MealQC arrow 1022"/>
          <p:cNvCxnSpPr/>
          <p:nvPr/>
        </p:nvCxnSpPr>
        <p:spPr>
          <a:xfrm>
            <a:off x="5126126" y="1778508"/>
            <a:ext cx="219456" cy="0"/>
          </a:xfrm>
          <a:prstGeom prst="straightConnector1">
            <a:avLst/>
          </a:prstGeom>
          <a:ln w="15875">
            <a:solidFill>
              <a:srgbClr val="8A5A12"/>
            </a:solidFill>
            <a:tailEnd type="triangle" w="med" len="med"/>
          </a:ln>
        </p:spPr>
      </p:cxnSp>
      <p:sp>
        <p:nvSpPr>
          <p:cNvPr id="1023" name="MealQC 1023"/>
          <p:cNvSpPr/>
          <p:nvPr/>
        </p:nvSpPr>
        <p:spPr>
          <a:xfrm>
            <a:off x="5373014" y="1527048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A5A12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Checks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warm · expiry · price</a:t>
            </a:r>
          </a:p>
        </p:txBody>
      </p:sp>
      <p:cxnSp>
        <p:nvCxnSpPr>
          <p:cNvPr id="1024" name="MealQC arrow 1024"/>
          <p:cNvCxnSpPr/>
          <p:nvPr/>
        </p:nvCxnSpPr>
        <p:spPr>
          <a:xfrm>
            <a:off x="6817766" y="1778508"/>
            <a:ext cx="219456" cy="0"/>
          </a:xfrm>
          <a:prstGeom prst="straightConnector1">
            <a:avLst/>
          </a:prstGeom>
          <a:ln w="15875">
            <a:solidFill>
              <a:srgbClr val="8A5A12"/>
            </a:solidFill>
            <a:tailEnd type="triangle" w="med" len="med"/>
          </a:ln>
        </p:spPr>
      </p:cxnSp>
      <p:sp>
        <p:nvSpPr>
          <p:cNvPr id="1025" name="MealQC 1025"/>
          <p:cNvSpPr/>
          <p:nvPr/>
        </p:nvSpPr>
        <p:spPr>
          <a:xfrm>
            <a:off x="7064654" y="1527048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8A5A12"/>
          </a:solidFill>
          <a:ln w="15875">
            <a:solidFill>
              <a:srgbClr val="8A5A12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Lot linked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meal date</a:t>
            </a:r>
          </a:p>
        </p:txBody>
      </p:sp>
      <p:sp>
        <p:nvSpPr>
          <p:cNvPr id="1026" name="MealQC 1026"/>
          <p:cNvSpPr txBox="1"/>
          <p:nvPr/>
        </p:nvSpPr>
        <p:spPr>
          <a:xfrm>
            <a:off x="298094" y="2212848"/>
            <a:ext cx="8547811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 · TRAY QC — BEFORE SERVING</a:t>
            </a:r>
          </a:p>
        </p:txBody>
      </p:sp>
      <p:sp>
        <p:nvSpPr>
          <p:cNvPr id="1027" name="MealQC 1027"/>
          <p:cNvSpPr/>
          <p:nvPr/>
        </p:nvSpPr>
        <p:spPr>
          <a:xfrm>
            <a:off x="298094" y="2441448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5B45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Crew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photographs tray</a:t>
            </a:r>
          </a:p>
        </p:txBody>
      </p:sp>
      <p:cxnSp>
        <p:nvCxnSpPr>
          <p:cNvPr id="1028" name="MealQC arrow 1028"/>
          <p:cNvCxnSpPr/>
          <p:nvPr/>
        </p:nvCxnSpPr>
        <p:spPr>
          <a:xfrm>
            <a:off x="1742846" y="2692908"/>
            <a:ext cx="219456" cy="0"/>
          </a:xfrm>
          <a:prstGeom prst="straightConnector1">
            <a:avLst/>
          </a:prstGeom>
          <a:ln w="15875">
            <a:solidFill>
              <a:srgbClr val="1F5B45"/>
            </a:solidFill>
            <a:tailEnd type="triangle" w="med" len="med"/>
          </a:ln>
        </p:spPr>
      </p:cxnSp>
      <p:sp>
        <p:nvSpPr>
          <p:cNvPr id="1029" name="MealQC 1029"/>
          <p:cNvSpPr/>
          <p:nvPr/>
        </p:nvSpPr>
        <p:spPr>
          <a:xfrm>
            <a:off x="1989734" y="2441448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5B45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lists components</a:t>
            </a:r>
          </a:p>
        </p:txBody>
      </p:sp>
      <p:cxnSp>
        <p:nvCxnSpPr>
          <p:cNvPr id="1030" name="MealQC arrow 1030"/>
          <p:cNvCxnSpPr/>
          <p:nvPr/>
        </p:nvCxnSpPr>
        <p:spPr>
          <a:xfrm>
            <a:off x="3434486" y="2692908"/>
            <a:ext cx="219456" cy="0"/>
          </a:xfrm>
          <a:prstGeom prst="straightConnector1">
            <a:avLst/>
          </a:prstGeom>
          <a:ln w="15875">
            <a:solidFill>
              <a:srgbClr val="1F5B45"/>
            </a:solidFill>
            <a:tailEnd type="triangle" w="med" len="med"/>
          </a:ln>
        </p:spPr>
      </p:cxnSp>
      <p:sp>
        <p:nvSpPr>
          <p:cNvPr id="1031" name="MealQC 1031"/>
          <p:cNvSpPr/>
          <p:nvPr/>
        </p:nvSpPr>
        <p:spPr>
          <a:xfrm>
            <a:off x="3681374" y="2441448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5B45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Validator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rejects bad output</a:t>
            </a:r>
          </a:p>
        </p:txBody>
      </p:sp>
      <p:cxnSp>
        <p:nvCxnSpPr>
          <p:cNvPr id="1032" name="MealQC arrow 1032"/>
          <p:cNvCxnSpPr/>
          <p:nvPr/>
        </p:nvCxnSpPr>
        <p:spPr>
          <a:xfrm>
            <a:off x="5126126" y="2692908"/>
            <a:ext cx="219456" cy="0"/>
          </a:xfrm>
          <a:prstGeom prst="straightConnector1">
            <a:avLst/>
          </a:prstGeom>
          <a:ln w="15875">
            <a:solidFill>
              <a:srgbClr val="1F5B45"/>
            </a:solidFill>
            <a:tailEnd type="triangle" w="med" len="med"/>
          </a:ln>
        </p:spPr>
      </p:cxnSp>
      <p:sp>
        <p:nvSpPr>
          <p:cNvPr id="1033" name="MealQC 1033"/>
          <p:cNvSpPr/>
          <p:nvPr/>
        </p:nvSpPr>
        <p:spPr>
          <a:xfrm>
            <a:off x="5373014" y="2441448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5B45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Supervisor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accept · hold · reject</a:t>
            </a:r>
          </a:p>
        </p:txBody>
      </p:sp>
      <p:cxnSp>
        <p:nvCxnSpPr>
          <p:cNvPr id="1034" name="MealQC arrow 1034"/>
          <p:cNvCxnSpPr/>
          <p:nvPr/>
        </p:nvCxnSpPr>
        <p:spPr>
          <a:xfrm>
            <a:off x="6817766" y="2692908"/>
            <a:ext cx="219456" cy="0"/>
          </a:xfrm>
          <a:prstGeom prst="straightConnector1">
            <a:avLst/>
          </a:prstGeom>
          <a:ln w="15875">
            <a:solidFill>
              <a:srgbClr val="1F5B45"/>
            </a:solidFill>
            <a:tailEnd type="triangle" w="med" len="med"/>
          </a:ln>
        </p:spPr>
      </p:cxnSp>
      <p:sp>
        <p:nvSpPr>
          <p:cNvPr id="1035" name="MealQC 1035"/>
          <p:cNvSpPr/>
          <p:nvPr/>
        </p:nvSpPr>
        <p:spPr>
          <a:xfrm>
            <a:off x="7064654" y="2441448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1F5B45"/>
          </a:solidFill>
          <a:ln w="15875">
            <a:solidFill>
              <a:srgbClr val="1F5B45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Official record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audited</a:t>
            </a:r>
          </a:p>
        </p:txBody>
      </p:sp>
      <p:sp>
        <p:nvSpPr>
          <p:cNvPr id="1036" name="MealQC 1036"/>
          <p:cNvSpPr txBox="1"/>
          <p:nvPr/>
        </p:nvSpPr>
        <p:spPr>
          <a:xfrm>
            <a:off x="298094" y="3127248"/>
            <a:ext cx="8547811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rgbClr val="B03A2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 · ILLNESS REPORTS — AFTER SERVING</a:t>
            </a:r>
          </a:p>
        </p:txBody>
      </p:sp>
      <p:sp>
        <p:nvSpPr>
          <p:cNvPr id="1037" name="MealQC 1037"/>
          <p:cNvSpPr/>
          <p:nvPr/>
        </p:nvSpPr>
        <p:spPr>
          <a:xfrm>
            <a:off x="298094" y="3355848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03A2E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Parent / school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reports illness</a:t>
            </a:r>
          </a:p>
        </p:txBody>
      </p:sp>
      <p:cxnSp>
        <p:nvCxnSpPr>
          <p:cNvPr id="1038" name="MealQC arrow 1038"/>
          <p:cNvCxnSpPr/>
          <p:nvPr/>
        </p:nvCxnSpPr>
        <p:spPr>
          <a:xfrm>
            <a:off x="1742846" y="3607308"/>
            <a:ext cx="219456" cy="0"/>
          </a:xfrm>
          <a:prstGeom prst="straightConnector1">
            <a:avLst/>
          </a:prstGeom>
          <a:ln w="15875">
            <a:solidFill>
              <a:srgbClr val="B03A2E"/>
            </a:solidFill>
            <a:tailEnd type="triangle" w="med" len="med"/>
          </a:ln>
        </p:spPr>
      </p:cxnSp>
      <p:sp>
        <p:nvSpPr>
          <p:cNvPr id="1039" name="MealQC 1039"/>
          <p:cNvSpPr/>
          <p:nvPr/>
        </p:nvSpPr>
        <p:spPr>
          <a:xfrm>
            <a:off x="1989734" y="3355848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03A2E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Incident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kitchen × day</a:t>
            </a:r>
          </a:p>
        </p:txBody>
      </p:sp>
      <p:cxnSp>
        <p:nvCxnSpPr>
          <p:cNvPr id="1040" name="MealQC arrow 1040"/>
          <p:cNvCxnSpPr/>
          <p:nvPr/>
        </p:nvCxnSpPr>
        <p:spPr>
          <a:xfrm>
            <a:off x="3434486" y="3607308"/>
            <a:ext cx="219456" cy="0"/>
          </a:xfrm>
          <a:prstGeom prst="straightConnector1">
            <a:avLst/>
          </a:prstGeom>
          <a:ln w="15875">
            <a:solidFill>
              <a:srgbClr val="B03A2E"/>
            </a:solidFill>
            <a:tailEnd type="triangle" w="med" len="med"/>
          </a:ln>
        </p:spPr>
      </p:cxnSp>
      <p:sp>
        <p:nvSpPr>
          <p:cNvPr id="1041" name="MealQC 1041"/>
          <p:cNvSpPr/>
          <p:nvPr/>
        </p:nvSpPr>
        <p:spPr>
          <a:xfrm>
            <a:off x="3681374" y="3355848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03A2E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8 checks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vs delivery records</a:t>
            </a:r>
          </a:p>
        </p:txBody>
      </p:sp>
      <p:cxnSp>
        <p:nvCxnSpPr>
          <p:cNvPr id="1042" name="MealQC arrow 1042"/>
          <p:cNvCxnSpPr/>
          <p:nvPr/>
        </p:nvCxnSpPr>
        <p:spPr>
          <a:xfrm>
            <a:off x="5126126" y="3607308"/>
            <a:ext cx="219456" cy="0"/>
          </a:xfrm>
          <a:prstGeom prst="straightConnector1">
            <a:avLst/>
          </a:prstGeom>
          <a:ln w="15875">
            <a:solidFill>
              <a:srgbClr val="B03A2E"/>
            </a:solidFill>
            <a:tailEnd type="triangle" w="med" len="med"/>
          </a:ln>
        </p:spPr>
      </p:cxnSp>
      <p:sp>
        <p:nvSpPr>
          <p:cNvPr id="1043" name="MealQC 1043"/>
          <p:cNvSpPr/>
          <p:nvPr/>
        </p:nvSpPr>
        <p:spPr>
          <a:xfrm>
            <a:off x="5373014" y="3355848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03A2E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explains pattern</a:t>
            </a:r>
          </a:p>
        </p:txBody>
      </p:sp>
      <p:cxnSp>
        <p:nvCxnSpPr>
          <p:cNvPr id="1044" name="MealQC arrow 1044"/>
          <p:cNvCxnSpPr/>
          <p:nvPr/>
        </p:nvCxnSpPr>
        <p:spPr>
          <a:xfrm>
            <a:off x="6817766" y="3607308"/>
            <a:ext cx="219456" cy="0"/>
          </a:xfrm>
          <a:prstGeom prst="straightConnector1">
            <a:avLst/>
          </a:prstGeom>
          <a:ln w="15875">
            <a:solidFill>
              <a:srgbClr val="B03A2E"/>
            </a:solidFill>
            <a:tailEnd type="triangle" w="med" len="med"/>
          </a:ln>
        </p:spPr>
      </p:cxnSp>
      <p:sp>
        <p:nvSpPr>
          <p:cNvPr id="1045" name="MealQC 1045"/>
          <p:cNvSpPr/>
          <p:nvPr/>
        </p:nvSpPr>
        <p:spPr>
          <a:xfrm>
            <a:off x="7064654" y="3355848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B03A2E"/>
          </a:solidFill>
          <a:ln w="15875">
            <a:solidFill>
              <a:srgbClr val="B03A2E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Human decision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trace to supplier</a:t>
            </a:r>
          </a:p>
        </p:txBody>
      </p:sp>
      <p:sp>
        <p:nvSpPr>
          <p:cNvPr id="1046" name="MealQC 1046"/>
          <p:cNvSpPr txBox="1"/>
          <p:nvPr/>
        </p:nvSpPr>
        <p:spPr>
          <a:xfrm>
            <a:off x="298094" y="4023360"/>
            <a:ext cx="854781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rgbClr val="16211C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Learning loop: </a:t>
            </a:r>
            <a:r>
              <a:rPr lang="en-GB" sz="10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reviewed photos → labelled dataset → Vertex AI tuning → tuned Gemini endpoint, switched in by configuration. Lane 3 traces back through lane 1 to the supplier.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7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MealQC 1047"/>
          <p:cNvSpPr txBox="1"/>
          <p:nvPr/>
        </p:nvSpPr>
        <p:spPr>
          <a:xfrm>
            <a:off x="298094" y="755294"/>
            <a:ext cx="85404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8A5A12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MOCK · INGREDIENT TRACE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>
                <a:solidFill>
                  <a:schemeClr val="dk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From an illness report to the supplier in one click</a:t>
            </a:r>
          </a:p>
        </p:txBody>
      </p:sp>
      <p:sp>
        <p:nvSpPr>
          <p:cNvPr id="1048" name="MealQC 1048"/>
          <p:cNvSpPr/>
          <p:nvPr/>
        </p:nvSpPr>
        <p:spPr>
          <a:xfrm>
            <a:off x="298094" y="1371600"/>
            <a:ext cx="4023360" cy="3383280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91440" tIns="91440" rIns="9144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1049" name="MealQC 1049"/>
          <p:cNvSpPr/>
          <p:nvPr/>
        </p:nvSpPr>
        <p:spPr>
          <a:xfrm>
            <a:off x="298094" y="1371600"/>
            <a:ext cx="4023360" cy="64008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1050" name="MealQC 1050"/>
          <p:cNvSpPr txBox="1"/>
          <p:nvPr/>
        </p:nvSpPr>
        <p:spPr>
          <a:xfrm>
            <a:off x="526694" y="160020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TRACE · OUTBREAK DAY (DEMO SCENARIO)</a:t>
            </a:r>
          </a:p>
        </p:txBody>
      </p:sp>
      <p:sp>
        <p:nvSpPr>
          <p:cNvPr id="1051" name="MealQC 1051"/>
          <p:cNvSpPr txBox="1"/>
          <p:nvPr/>
        </p:nvSpPr>
        <p:spPr>
          <a:xfrm>
            <a:off x="526694" y="187452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Chicken</a:t>
            </a:r>
          </a:p>
        </p:txBody>
      </p:sp>
      <p:sp>
        <p:nvSpPr>
          <p:cNvPr id="1052" name="MealQC 1052"/>
          <p:cNvSpPr txBox="1"/>
          <p:nvPr/>
        </p:nvSpPr>
        <p:spPr>
          <a:xfrm>
            <a:off x="526694" y="256032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Supplier</a:t>
            </a:r>
          </a:p>
        </p:txBody>
      </p:sp>
      <p:sp>
        <p:nvSpPr>
          <p:cNvPr id="1053" name="MealQC 1053"/>
          <p:cNvSpPr txBox="1"/>
          <p:nvPr/>
        </p:nvSpPr>
        <p:spPr>
          <a:xfrm>
            <a:off x="2218334" y="256032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Trader, no cold chain</a:t>
            </a:r>
          </a:p>
        </p:txBody>
      </p:sp>
      <p:sp>
        <p:nvSpPr>
          <p:cNvPr id="1054" name="MealQC 1054"/>
          <p:cNvSpPr/>
          <p:nvPr/>
        </p:nvSpPr>
        <p:spPr>
          <a:xfrm>
            <a:off x="526694" y="2999232"/>
            <a:ext cx="3566160" cy="10973"/>
          </a:xfrm>
          <a:prstGeom prst="rect">
            <a:avLst/>
          </a:prstGeom>
          <a:solidFill>
            <a:srgbClr val="C9D1CC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1055" name="MealQC 1055"/>
          <p:cNvSpPr txBox="1"/>
          <p:nvPr/>
        </p:nvSpPr>
        <p:spPr>
          <a:xfrm>
            <a:off x="526694" y="31089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Distance travelled</a:t>
            </a:r>
          </a:p>
        </p:txBody>
      </p:sp>
      <p:sp>
        <p:nvSpPr>
          <p:cNvPr id="1056" name="MealQC 1056"/>
          <p:cNvSpPr txBox="1"/>
          <p:nvPr/>
        </p:nvSpPr>
        <p:spPr>
          <a:xfrm>
            <a:off x="2218334" y="310896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145 km</a:t>
            </a:r>
          </a:p>
        </p:txBody>
      </p:sp>
      <p:sp>
        <p:nvSpPr>
          <p:cNvPr id="1057" name="MealQC 1057"/>
          <p:cNvSpPr/>
          <p:nvPr/>
        </p:nvSpPr>
        <p:spPr>
          <a:xfrm>
            <a:off x="526694" y="3547872"/>
            <a:ext cx="3566160" cy="10973"/>
          </a:xfrm>
          <a:prstGeom prst="rect">
            <a:avLst/>
          </a:prstGeom>
          <a:solidFill>
            <a:srgbClr val="C9D1CC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1058" name="MealQC 1058"/>
          <p:cNvSpPr txBox="1"/>
          <p:nvPr/>
        </p:nvSpPr>
        <p:spPr>
          <a:xfrm>
            <a:off x="526694" y="36576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Arrival temperature</a:t>
            </a:r>
          </a:p>
        </p:txBody>
      </p:sp>
      <p:sp>
        <p:nvSpPr>
          <p:cNvPr id="1059" name="MealQC 1059"/>
          <p:cNvSpPr txBox="1"/>
          <p:nvPr/>
        </p:nvSpPr>
        <p:spPr>
          <a:xfrm>
            <a:off x="2218334" y="365760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B03A2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11.5 °C</a:t>
            </a:r>
          </a:p>
        </p:txBody>
      </p:sp>
      <p:sp>
        <p:nvSpPr>
          <p:cNvPr id="1060" name="MealQC 1060"/>
          <p:cNvSpPr txBox="1"/>
          <p:nvPr/>
        </p:nvSpPr>
        <p:spPr>
          <a:xfrm>
            <a:off x="526694" y="425196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Every lot used on the meal date, where it came from and how it arrived.</a:t>
            </a:r>
          </a:p>
        </p:txBody>
      </p:sp>
      <p:sp>
        <p:nvSpPr>
          <p:cNvPr id="1061" name="MealQC 1061"/>
          <p:cNvSpPr txBox="1"/>
          <p:nvPr/>
        </p:nvSpPr>
        <p:spPr>
          <a:xfrm>
            <a:off x="4687214" y="1371600"/>
            <a:ext cx="4158691" cy="3383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What the Supply page checks</a:t>
            </a:r>
          </a:p>
          <a:p>
            <a:pPr marL="171450" indent="-171450" algn="l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Font typeface="Arial"/>
              <a:buChar char="•"/>
            </a:pPr>
            <a:r>
              <a:rPr lang="en-GB" sz="13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Arrival temperature and cold chain</a:t>
            </a:r>
          </a:p>
          <a:p>
            <a:pPr marL="171450" indent="-171450" algn="l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Font typeface="Arial"/>
              <a:buChar char="•"/>
            </a:pPr>
            <a:r>
              <a:rPr lang="en-GB" sz="13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Transit time and supplier punctuality</a:t>
            </a:r>
          </a:p>
          <a:p>
            <a:pPr marL="171450" indent="-171450" algn="l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Font typeface="Arial"/>
              <a:buChar char="•"/>
            </a:pPr>
            <a:r>
              <a:rPr lang="en-GB" sz="13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Use-by date and days of stock cover</a:t>
            </a:r>
          </a:p>
          <a:p>
            <a:pPr marL="171450" indent="-171450" algn="l">
              <a:spcBef>
                <a:spcPts val="0"/>
              </a:spcBef>
              <a:spcAft>
                <a:spcPts val="1400"/>
              </a:spcAft>
              <a:buClr>
                <a:schemeClr val="dk1"/>
              </a:buClr>
              <a:buFont typeface="Arial"/>
              <a:buChar char="•"/>
            </a:pPr>
            <a:r>
              <a:rPr lang="en-GB" sz="13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Price vs reference (100 = reference; above 115 is expensive, below 80 suspiciously cheap)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weekly priority list combines every check, with suggested 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8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MealQC 1062"/>
          <p:cNvSpPr txBox="1"/>
          <p:nvPr/>
        </p:nvSpPr>
        <p:spPr>
          <a:xfrm>
            <a:off x="298094" y="755294"/>
            <a:ext cx="85404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ARCHITECTURE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>
                <a:solidFill>
                  <a:schemeClr val="dk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Serverless on Google Cloud, asia-southeast2</a:t>
            </a:r>
          </a:p>
        </p:txBody>
      </p:sp>
      <p:sp>
        <p:nvSpPr>
          <p:cNvPr id="1063" name="MealQC 1063"/>
          <p:cNvSpPr/>
          <p:nvPr/>
        </p:nvSpPr>
        <p:spPr>
          <a:xfrm>
            <a:off x="298094" y="1325880"/>
            <a:ext cx="1463040" cy="457200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Kitchen crew · receiving</a:t>
            </a:r>
          </a:p>
        </p:txBody>
      </p:sp>
      <p:sp>
        <p:nvSpPr>
          <p:cNvPr id="1064" name="MealQC 1064"/>
          <p:cNvSpPr/>
          <p:nvPr/>
        </p:nvSpPr>
        <p:spPr>
          <a:xfrm>
            <a:off x="298094" y="1892808"/>
            <a:ext cx="1463040" cy="457200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Supervisor / Admin</a:t>
            </a:r>
          </a:p>
        </p:txBody>
      </p:sp>
      <p:sp>
        <p:nvSpPr>
          <p:cNvPr id="1065" name="MealQC 1065"/>
          <p:cNvSpPr/>
          <p:nvPr/>
        </p:nvSpPr>
        <p:spPr>
          <a:xfrm>
            <a:off x="298094" y="2459736"/>
            <a:ext cx="1463040" cy="457200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Parents · schools</a:t>
            </a:r>
          </a:p>
        </p:txBody>
      </p:sp>
      <p:cxnSp>
        <p:nvCxnSpPr>
          <p:cNvPr id="1066" name="MealQC arrow 1066"/>
          <p:cNvCxnSpPr/>
          <p:nvPr/>
        </p:nvCxnSpPr>
        <p:spPr>
          <a:xfrm>
            <a:off x="1806854" y="2121408"/>
            <a:ext cx="274320" cy="0"/>
          </a:xfrm>
          <a:prstGeom prst="straightConnector1">
            <a:avLst/>
          </a:prstGeom>
          <a:ln w="15875">
            <a:solidFill>
              <a:srgbClr val="4A5751"/>
            </a:solidFill>
            <a:tailEnd type="triangle" w="med" len="med"/>
          </a:ln>
        </p:spPr>
      </p:cxnSp>
      <p:sp>
        <p:nvSpPr>
          <p:cNvPr id="1067" name="MealQC 1067"/>
          <p:cNvSpPr/>
          <p:nvPr/>
        </p:nvSpPr>
        <p:spPr>
          <a:xfrm>
            <a:off x="2126894" y="1325880"/>
            <a:ext cx="2057400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5B45"/>
            </a:solidFill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9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RUN · FRONTEND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3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Next.js 16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Home, Supply, Crew, Review, Report, Illness reports, Guide. Server-side proxy; no keys in the browser.</a:t>
            </a:r>
          </a:p>
        </p:txBody>
      </p:sp>
      <p:cxnSp>
        <p:nvCxnSpPr>
          <p:cNvPr id="1068" name="MealQC arrow 1068"/>
          <p:cNvCxnSpPr/>
          <p:nvPr/>
        </p:nvCxnSpPr>
        <p:spPr>
          <a:xfrm>
            <a:off x="4230014" y="2121408"/>
            <a:ext cx="274320" cy="0"/>
          </a:xfrm>
          <a:prstGeom prst="straightConnector1">
            <a:avLst/>
          </a:prstGeom>
          <a:ln w="15875">
            <a:solidFill>
              <a:srgbClr val="4A5751"/>
            </a:solidFill>
            <a:tailEnd type="triangle" w="med" len="med"/>
          </a:ln>
        </p:spPr>
      </p:cxnSp>
      <p:sp>
        <p:nvSpPr>
          <p:cNvPr id="1069" name="MealQC 1069"/>
          <p:cNvSpPr/>
          <p:nvPr/>
        </p:nvSpPr>
        <p:spPr>
          <a:xfrm>
            <a:off x="4550054" y="1325880"/>
            <a:ext cx="2057400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5B45"/>
            </a:solidFill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9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RUN · BACKEND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3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FastAPI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Supply lots, inspections, claim integrity, RBAC, append-only audit.</a:t>
            </a:r>
          </a:p>
        </p:txBody>
      </p:sp>
      <p:cxnSp>
        <p:nvCxnSpPr>
          <p:cNvPr id="1070" name="MealQC arrow 1070"/>
          <p:cNvCxnSpPr/>
          <p:nvPr/>
        </p:nvCxnSpPr>
        <p:spPr>
          <a:xfrm>
            <a:off x="6653174" y="2121408"/>
            <a:ext cx="274320" cy="0"/>
          </a:xfrm>
          <a:prstGeom prst="straightConnector1">
            <a:avLst/>
          </a:prstGeom>
          <a:ln w="15875">
            <a:solidFill>
              <a:srgbClr val="4A5751"/>
            </a:solidFill>
            <a:tailEnd type="triangle" w="med" len="med"/>
          </a:ln>
        </p:spPr>
      </p:cxnSp>
      <p:sp>
        <p:nvSpPr>
          <p:cNvPr id="1071" name="MealQC 1071"/>
          <p:cNvSpPr/>
          <p:nvPr/>
        </p:nvSpPr>
        <p:spPr>
          <a:xfrm>
            <a:off x="6973214" y="1325880"/>
            <a:ext cx="1872691" cy="457200"/>
          </a:xfrm>
          <a:prstGeom prst="rect">
            <a:avLst/>
          </a:prstGeom>
          <a:solidFill>
            <a:srgbClr val="16211C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Vertex AI · Gemini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>
                <a:solidFill>
                  <a:srgbClr val="D5DDD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tray vision, incident summary</a:t>
            </a:r>
          </a:p>
        </p:txBody>
      </p:sp>
      <p:sp>
        <p:nvSpPr>
          <p:cNvPr id="1072" name="MealQC 1072"/>
          <p:cNvSpPr/>
          <p:nvPr/>
        </p:nvSpPr>
        <p:spPr>
          <a:xfrm>
            <a:off x="6973214" y="1892808"/>
            <a:ext cx="1872691" cy="457200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Firestore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lots, records, audit</a:t>
            </a:r>
          </a:p>
        </p:txBody>
      </p:sp>
      <p:sp>
        <p:nvSpPr>
          <p:cNvPr id="1073" name="MealQC 1073"/>
          <p:cNvSpPr/>
          <p:nvPr/>
        </p:nvSpPr>
        <p:spPr>
          <a:xfrm>
            <a:off x="6973214" y="2459736"/>
            <a:ext cx="1872691" cy="457200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Storage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tray images</a:t>
            </a:r>
          </a:p>
        </p:txBody>
      </p:sp>
      <p:sp>
        <p:nvSpPr>
          <p:cNvPr id="1074" name="MealQC 1074"/>
          <p:cNvSpPr/>
          <p:nvPr/>
        </p:nvSpPr>
        <p:spPr>
          <a:xfrm>
            <a:off x="298094" y="3246120"/>
            <a:ext cx="2696870" cy="10973"/>
          </a:xfrm>
          <a:prstGeom prst="rect">
            <a:avLst/>
          </a:prstGeom>
          <a:solidFill>
            <a:srgbClr val="C9D1CC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1075" name="MealQC 1075"/>
          <p:cNvSpPr txBox="1"/>
          <p:nvPr/>
        </p:nvSpPr>
        <p:spPr>
          <a:xfrm>
            <a:off x="298094" y="3364992"/>
            <a:ext cx="269687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Identity: </a:t>
            </a:r>
            <a:r>
              <a:rPr lang="en-GB" sz="11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one least-privilege service account (aiplatform.user, datastore.user, scoped storage); ADC via the metadata server.</a:t>
            </a:r>
          </a:p>
        </p:txBody>
      </p:sp>
      <p:sp>
        <p:nvSpPr>
          <p:cNvPr id="1076" name="MealQC 1076"/>
          <p:cNvSpPr/>
          <p:nvPr/>
        </p:nvSpPr>
        <p:spPr>
          <a:xfrm>
            <a:off x="3223565" y="3246120"/>
            <a:ext cx="2696870" cy="10973"/>
          </a:xfrm>
          <a:prstGeom prst="rect">
            <a:avLst/>
          </a:prstGeom>
          <a:solidFill>
            <a:srgbClr val="C9D1CC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1077" name="MealQC 1077"/>
          <p:cNvSpPr txBox="1"/>
          <p:nvPr/>
        </p:nvSpPr>
        <p:spPr>
          <a:xfrm>
            <a:off x="3223565" y="3364992"/>
            <a:ext cx="269687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Delivery: </a:t>
            </a:r>
            <a:r>
              <a:rPr lang="en-GB" sz="11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images in Artifact Registry tagged by git SHA; scale-to-zero, max 2 instances; staging and production isolated.</a:t>
            </a:r>
          </a:p>
        </p:txBody>
      </p:sp>
      <p:sp>
        <p:nvSpPr>
          <p:cNvPr id="1078" name="MealQC 1078"/>
          <p:cNvSpPr/>
          <p:nvPr/>
        </p:nvSpPr>
        <p:spPr>
          <a:xfrm>
            <a:off x="6149035" y="3246120"/>
            <a:ext cx="2696870" cy="10973"/>
          </a:xfrm>
          <a:prstGeom prst="rect">
            <a:avLst/>
          </a:prstGeom>
          <a:solidFill>
            <a:srgbClr val="C9D1CC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1079" name="MealQC 1079"/>
          <p:cNvSpPr txBox="1"/>
          <p:nvPr/>
        </p:nvSpPr>
        <p:spPr>
          <a:xfrm>
            <a:off x="6149035" y="3364992"/>
            <a:ext cx="269687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Learning: </a:t>
            </a:r>
            <a:r>
              <a:rPr lang="en-GB" sz="11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dataset in Cloud Storage → Vertex AI supervised tuning → tuned endpoint via one env var.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9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MealQC 1080"/>
          <p:cNvSpPr txBox="1"/>
          <p:nvPr/>
        </p:nvSpPr>
        <p:spPr>
          <a:xfrm>
            <a:off x="298094" y="755294"/>
            <a:ext cx="85404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TECHNOLOGIES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>
                <a:solidFill>
                  <a:schemeClr val="dk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Google AI at the core, open stack around it</a:t>
            </a:r>
          </a:p>
        </p:txBody>
      </p:sp>
      <p:graphicFrame>
        <p:nvGraphicFramePr>
          <p:cNvPr id="1081" name="MealQC table 1081"/>
          <p:cNvGraphicFramePr>
            <a:graphicFrameLocks noGrp="1"/>
          </p:cNvGraphicFramePr>
          <p:nvPr/>
        </p:nvGraphicFramePr>
        <p:xfrm>
          <a:off x="298094" y="1371600"/>
          <a:ext cx="8547811" cy="3072384"/>
        </p:xfrm>
        <a:graphic>
          <a:graphicData uri="http://schemas.openxmlformats.org/drawingml/2006/table">
            <a:tbl>
              <a:tblPr firstRow="1" bandRow="1"/>
              <a:tblGrid>
                <a:gridCol w="1554480"/>
                <a:gridCol w="4158691"/>
                <a:gridCol w="283464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Layer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1621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Technology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1621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Google service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1621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Generative AI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Gemini Flash · multimodal · structured output (responseSchema)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Vertex AI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Model tuning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Supervised tuning pipeline (validate, group split, SFT export)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Vertex AI tuning · Cloud Storage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chemeClr val="lt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Backend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Python 3.12 · FastAPI · Pydantic v2 · Pillow · httpx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Cloud Run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Frontend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Next.js 16 · React 19 · TypeScript · Tailwind CSS v4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Cloud Run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chemeClr val="lt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Data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Ingredient lots, records, audit trail, inference cache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Firestore · Cloud Storage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Security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Least-privilege service account · ADC · role scopes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IAM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chemeClr val="lt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Delivery &amp; QA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Containers by git SHA · unittest · Playwright E2E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Artifact Registry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0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MealQC 1082"/>
          <p:cNvSpPr txBox="1"/>
          <p:nvPr/>
        </p:nvSpPr>
        <p:spPr>
          <a:xfrm>
            <a:off x="298094" y="755294"/>
            <a:ext cx="85404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ESTIMATED IMPLEMENTATION COST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>
                <a:solidFill>
                  <a:schemeClr val="dk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 fixed infrastructure; pay per use</a:t>
            </a:r>
          </a:p>
        </p:txBody>
      </p:sp>
      <p:sp>
        <p:nvSpPr>
          <p:cNvPr id="1083" name="MealQC 1083"/>
          <p:cNvSpPr/>
          <p:nvPr/>
        </p:nvSpPr>
        <p:spPr>
          <a:xfrm>
            <a:off x="298094" y="1371600"/>
            <a:ext cx="2696870" cy="1417320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146304" tIns="146304" rIns="146304" bIns="146304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000" b="1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LOW · DEMO, FEW RUNS A DAY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$2–5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per month</a:t>
            </a:r>
          </a:p>
        </p:txBody>
      </p:sp>
      <p:sp>
        <p:nvSpPr>
          <p:cNvPr id="1084" name="MealQC 1084"/>
          <p:cNvSpPr/>
          <p:nvPr/>
        </p:nvSpPr>
        <p:spPr>
          <a:xfrm>
            <a:off x="3223565" y="1371600"/>
            <a:ext cx="2696870" cy="1417320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146304" tIns="146304" rIns="146304" bIns="146304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000" b="1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MEDIUM · DAILY USE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$10–25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per month</a:t>
            </a:r>
          </a:p>
        </p:txBody>
      </p:sp>
      <p:sp>
        <p:nvSpPr>
          <p:cNvPr id="1085" name="MealQC 1085"/>
          <p:cNvSpPr/>
          <p:nvPr/>
        </p:nvSpPr>
        <p:spPr>
          <a:xfrm>
            <a:off x="6149035" y="1371600"/>
            <a:ext cx="2696870" cy="1417320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146304" tIns="146304" rIns="146304" bIns="146304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000" b="1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HIGH · ALWAYS WARM, HEAVY USE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$50+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per month</a:t>
            </a:r>
          </a:p>
        </p:txBody>
      </p:sp>
      <p:sp>
        <p:nvSpPr>
          <p:cNvPr id="1086" name="MealQC 1086"/>
          <p:cNvSpPr txBox="1"/>
          <p:nvPr/>
        </p:nvSpPr>
        <p:spPr>
          <a:xfrm>
            <a:off x="298094" y="3063240"/>
            <a:ext cx="854781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inference dominates the bill (about 2.2k input tokens per tray check). Cost controls in place: scale-to-zero, max 2 instances, bounded concurrency and timeouts, no Cloud SQL, VMs or load balancer.</a:t>
            </a:r>
          </a:p>
        </p:txBody>
      </p:sp>
      <p:sp>
        <p:nvSpPr>
          <p:cNvPr id="1087" name="MealQC 1087"/>
          <p:cNvSpPr txBox="1"/>
          <p:nvPr/>
        </p:nvSpPr>
        <p:spPr>
          <a:xfrm>
            <a:off x="298094" y="4572000"/>
            <a:ext cx="854781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Estimate dated 2026-10-16 for asia-southeast2, two Cloud Run services; Gemini pricing changes — verify before budgeting.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1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MealQC 1088"/>
          <p:cNvSpPr txBox="1"/>
          <p:nvPr/>
        </p:nvSpPr>
        <p:spPr>
          <a:xfrm>
            <a:off x="298094" y="755294"/>
            <a:ext cx="85404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PROTOTYPE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>
                <a:solidFill>
                  <a:schemeClr val="dk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</a:p>
        </p:txBody>
      </p:sp>
      <p:pic>
        <p:nvPicPr>
          <p:cNvPr id="1089" name="Screenshot 1089" descr="Crew page with a tray photo and check resul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715" y="1298448"/>
            <a:ext cx="2311603" cy="1444752"/>
          </a:xfrm>
          <a:prstGeom prst="rect">
            <a:avLst/>
          </a:prstGeom>
          <a:ln w="9525">
            <a:solidFill>
              <a:schemeClr val="dk2"/>
            </a:solidFill>
          </a:ln>
        </p:spPr>
      </p:pic>
      <p:sp>
        <p:nvSpPr>
          <p:cNvPr id="1090" name="MealQC 1090"/>
          <p:cNvSpPr txBox="1"/>
          <p:nvPr/>
        </p:nvSpPr>
        <p:spPr>
          <a:xfrm>
            <a:off x="921715" y="2779776"/>
            <a:ext cx="2311603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Crew: </a:t>
            </a:r>
            <a:r>
              <a:rPr lang="en-GB" sz="9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photo vs manifest, result marked UNVERIFIED</a:t>
            </a:r>
          </a:p>
        </p:txBody>
      </p:sp>
      <p:pic>
        <p:nvPicPr>
          <p:cNvPr id="1091" name="Screenshot 1091" descr="Admin review queue with reviewer control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6198" y="1298448"/>
            <a:ext cx="2311603" cy="1444752"/>
          </a:xfrm>
          <a:prstGeom prst="rect">
            <a:avLst/>
          </a:prstGeom>
          <a:ln w="9525">
            <a:solidFill>
              <a:schemeClr val="dk2"/>
            </a:solidFill>
          </a:ln>
        </p:spPr>
      </p:pic>
      <p:sp>
        <p:nvSpPr>
          <p:cNvPr id="1092" name="MealQC 1092"/>
          <p:cNvSpPr txBox="1"/>
          <p:nvPr/>
        </p:nvSpPr>
        <p:spPr>
          <a:xfrm>
            <a:off x="3416198" y="2779776"/>
            <a:ext cx="2311603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Supervisor: </a:t>
            </a:r>
            <a:r>
              <a:rPr lang="en-GB" sz="9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accept, hold or reject — audited</a:t>
            </a:r>
          </a:p>
        </p:txBody>
      </p:sp>
      <p:pic>
        <p:nvPicPr>
          <p:cNvPr id="1093" name="Screenshot 1093" descr="Public illness report form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0682" y="1298448"/>
            <a:ext cx="2311603" cy="1444752"/>
          </a:xfrm>
          <a:prstGeom prst="rect">
            <a:avLst/>
          </a:prstGeom>
          <a:ln w="9525">
            <a:solidFill>
              <a:schemeClr val="dk2"/>
            </a:solidFill>
          </a:ln>
        </p:spPr>
      </p:pic>
      <p:sp>
        <p:nvSpPr>
          <p:cNvPr id="1094" name="MealQC 1094"/>
          <p:cNvSpPr txBox="1"/>
          <p:nvPr/>
        </p:nvSpPr>
        <p:spPr>
          <a:xfrm>
            <a:off x="5910682" y="2779776"/>
            <a:ext cx="2311603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Public report: </a:t>
            </a:r>
            <a:r>
              <a:rPr lang="en-GB" sz="9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care first; phone stored as a hash</a:t>
            </a:r>
          </a:p>
        </p:txBody>
      </p:sp>
      <p:pic>
        <p:nvPicPr>
          <p:cNvPr id="1095" name="Screenshot 1095" descr="Claims incident detail with conflict scor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715" y="3108960"/>
            <a:ext cx="2311603" cy="1444752"/>
          </a:xfrm>
          <a:prstGeom prst="rect">
            <a:avLst/>
          </a:prstGeom>
          <a:ln w="9525">
            <a:solidFill>
              <a:schemeClr val="dk2"/>
            </a:solidFill>
          </a:ln>
        </p:spPr>
      </p:pic>
      <p:sp>
        <p:nvSpPr>
          <p:cNvPr id="1096" name="MealQC 1096"/>
          <p:cNvSpPr txBox="1"/>
          <p:nvPr/>
        </p:nvSpPr>
        <p:spPr>
          <a:xfrm>
            <a:off x="921715" y="4590288"/>
            <a:ext cx="2311603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Incident: </a:t>
            </a:r>
            <a:r>
              <a:rPr lang="en-GB" sz="9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health priority stays URGENT</a:t>
            </a:r>
          </a:p>
        </p:txBody>
      </p:sp>
      <p:pic>
        <p:nvPicPr>
          <p:cNvPr id="1097" name="Screenshot 1097" descr="Conflict signals lis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6198" y="3108960"/>
            <a:ext cx="2311603" cy="1444752"/>
          </a:xfrm>
          <a:prstGeom prst="rect">
            <a:avLst/>
          </a:prstGeom>
          <a:ln w="9525">
            <a:solidFill>
              <a:schemeClr val="dk2"/>
            </a:solidFill>
          </a:ln>
        </p:spPr>
      </p:pic>
      <p:sp>
        <p:nvSpPr>
          <p:cNvPr id="1098" name="MealQC 1098"/>
          <p:cNvSpPr txBox="1"/>
          <p:nvPr/>
        </p:nvSpPr>
        <p:spPr>
          <a:xfrm>
            <a:off x="3416198" y="4590288"/>
            <a:ext cx="2311603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Signals: </a:t>
            </a:r>
            <a:r>
              <a:rPr lang="en-GB" sz="9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plain-language conflicts, one click to reports</a:t>
            </a:r>
          </a:p>
        </p:txBody>
      </p:sp>
      <p:pic>
        <p:nvPicPr>
          <p:cNvPr id="1099" name="Screenshot 1099" descr="Outbreak incident with zero conflict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0682" y="3108960"/>
            <a:ext cx="2311603" cy="1444752"/>
          </a:xfrm>
          <a:prstGeom prst="rect">
            <a:avLst/>
          </a:prstGeom>
          <a:ln w="9525">
            <a:solidFill>
              <a:schemeClr val="dk2"/>
            </a:solidFill>
          </a:ln>
        </p:spPr>
      </p:pic>
      <p:sp>
        <p:nvSpPr>
          <p:cNvPr id="1100" name="MealQC 1100"/>
          <p:cNvSpPr txBox="1"/>
          <p:nvPr/>
        </p:nvSpPr>
        <p:spPr>
          <a:xfrm>
            <a:off x="5910682" y="4590288"/>
            <a:ext cx="2311603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Outbreak: </a:t>
            </a:r>
            <a:r>
              <a:rPr lang="en-GB" sz="9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zero conflicts plus medical evidence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2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MealQC 1101"/>
          <p:cNvSpPr txBox="1"/>
          <p:nvPr/>
        </p:nvSpPr>
        <p:spPr>
          <a:xfrm>
            <a:off x="298094" y="755294"/>
            <a:ext cx="85404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PERFORMANCE &amp; BENCHMARKING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>
                <a:solidFill>
                  <a:schemeClr val="dk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Measured, not assumed</a:t>
            </a:r>
          </a:p>
        </p:txBody>
      </p:sp>
      <p:sp>
        <p:nvSpPr>
          <p:cNvPr id="1102" name="MealQC 1102"/>
          <p:cNvSpPr/>
          <p:nvPr/>
        </p:nvSpPr>
        <p:spPr>
          <a:xfrm>
            <a:off x="298094" y="1298448"/>
            <a:ext cx="2013509" cy="1097280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91440" tIns="91440" rIns="9144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24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7.5 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tray check in production (≈2.2k input / 255 output tokens)</a:t>
            </a:r>
          </a:p>
        </p:txBody>
      </p:sp>
      <p:sp>
        <p:nvSpPr>
          <p:cNvPr id="1103" name="MealQC 1103"/>
          <p:cNvSpPr/>
          <p:nvPr/>
        </p:nvSpPr>
        <p:spPr>
          <a:xfrm>
            <a:off x="2476195" y="1298448"/>
            <a:ext cx="2013509" cy="1097280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91440" tIns="91440" rIns="9144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24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5×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faster with thinking off: 2.0 s vs 10.9 s, same payload</a:t>
            </a:r>
          </a:p>
        </p:txBody>
      </p:sp>
      <p:sp>
        <p:nvSpPr>
          <p:cNvPr id="1104" name="MealQC 1104"/>
          <p:cNvSpPr/>
          <p:nvPr/>
        </p:nvSpPr>
        <p:spPr>
          <a:xfrm>
            <a:off x="4654296" y="1298448"/>
            <a:ext cx="2013509" cy="1097280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91440" tIns="91440" rIns="9144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2400" b="1">
                <a:solidFill>
                  <a:srgbClr val="B03A2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300/300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coordinated reports flagged; 0/700 genuine hit by a strong signal</a:t>
            </a:r>
          </a:p>
        </p:txBody>
      </p:sp>
      <p:sp>
        <p:nvSpPr>
          <p:cNvPr id="1105" name="MealQC 1105"/>
          <p:cNvSpPr/>
          <p:nvPr/>
        </p:nvSpPr>
        <p:spPr>
          <a:xfrm>
            <a:off x="6832397" y="1298448"/>
            <a:ext cx="2013509" cy="1097280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91440" tIns="91440" rIns="9144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2400" b="1">
                <a:solidFill>
                  <a:srgbClr val="8A5A12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76 + 18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automated tests, plus 18/18 browser checks on the deployed build</a:t>
            </a:r>
          </a:p>
        </p:txBody>
      </p:sp>
      <p:graphicFrame>
        <p:nvGraphicFramePr>
          <p:cNvPr id="1106" name="MealQC table 1106"/>
          <p:cNvGraphicFramePr>
            <a:graphicFrameLocks noGrp="1"/>
          </p:cNvGraphicFramePr>
          <p:nvPr/>
        </p:nvGraphicFramePr>
        <p:xfrm>
          <a:off x="298094" y="2560320"/>
          <a:ext cx="8547811" cy="1645920"/>
        </p:xfrm>
        <a:graphic>
          <a:graphicData uri="http://schemas.openxmlformats.org/drawingml/2006/table">
            <a:tbl>
              <a:tblPr firstRow="1" bandRow="1"/>
              <a:tblGrid>
                <a:gridCol w="3291840"/>
                <a:gridCol w="914400"/>
                <a:gridCol w="2878531"/>
                <a:gridCol w="1463040"/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Offline API, p50 (in-process, SQLite)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1621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ms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1621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Claim triage, one incident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1621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time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1621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Create inspection (image intake)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35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50 reports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8 ms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Submit illness report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16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200 reports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66 ms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chemeClr val="lt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Admin overview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52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500 reports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0.2 s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Incident detail (35 reports)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93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1,000 reports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>
                          <a:solidFill>
                            <a:schemeClr val="dk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≈2 s</a:t>
                      </a:r>
                    </a:p>
                  </a:txBody>
                  <a:tcPr marL="68580" marR="68580" marT="36000" marB="36000" anchor="ctr">
                    <a:lnL w="6350">
                      <a:solidFill>
                        <a:srgbClr val="BFC7C2"/>
                      </a:solidFill>
                    </a:lnL>
                    <a:lnR w="6350">
                      <a:solidFill>
                        <a:srgbClr val="BFC7C2"/>
                      </a:solidFill>
                    </a:lnR>
                    <a:lnT w="6350">
                      <a:solidFill>
                        <a:srgbClr val="BFC7C2"/>
                      </a:solidFill>
                    </a:lnT>
                    <a:lnB w="6350">
                      <a:solidFill>
                        <a:srgbClr val="BFC7C2"/>
                      </a:solidFill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1107" name="MealQC 1107"/>
          <p:cNvSpPr txBox="1"/>
          <p:nvPr/>
        </p:nvSpPr>
        <p:spPr>
          <a:xfrm>
            <a:off x="298094" y="4343400"/>
            <a:ext cx="854781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figures: deployment evidence (gemini-2.5-flash, Vertex AI). Triage figures: synthetic scenarios, 30% coordinated; burst-only matches excluded from “strong”. Not a field-accuracy claim.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3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MealQC 1108"/>
          <p:cNvSpPr txBox="1"/>
          <p:nvPr/>
        </p:nvSpPr>
        <p:spPr>
          <a:xfrm>
            <a:off x="298094" y="755294"/>
            <a:ext cx="85404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FUTURE DEVELOPMENT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>
                <a:solidFill>
                  <a:schemeClr val="dk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From prototype to pilot</a:t>
            </a:r>
          </a:p>
        </p:txBody>
      </p:sp>
      <p:sp>
        <p:nvSpPr>
          <p:cNvPr id="1109" name="MealQC 1109"/>
          <p:cNvSpPr/>
          <p:nvPr/>
        </p:nvSpPr>
        <p:spPr>
          <a:xfrm>
            <a:off x="298094" y="1371600"/>
            <a:ext cx="4159606" cy="896112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128016" tIns="128016" rIns="128016" bIns="128016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3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Tune on household plates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Pipeline is ready: label real photos, group-split, tune Gemini on Vertex AI, compare per plate type.</a:t>
            </a:r>
          </a:p>
        </p:txBody>
      </p:sp>
      <p:sp>
        <p:nvSpPr>
          <p:cNvPr id="1110" name="MealQC 1110"/>
          <p:cNvSpPr/>
          <p:nvPr/>
        </p:nvSpPr>
        <p:spPr>
          <a:xfrm>
            <a:off x="4686300" y="1371600"/>
            <a:ext cx="4159606" cy="896112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128016" tIns="128016" rIns="128016" bIns="128016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3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Field pilot in one region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few kitchens and their schools; measure missed-component recall and time-to-escalation.</a:t>
            </a:r>
          </a:p>
        </p:txBody>
      </p:sp>
      <p:sp>
        <p:nvSpPr>
          <p:cNvPr id="1111" name="MealQC 1111"/>
          <p:cNvSpPr/>
          <p:nvPr/>
        </p:nvSpPr>
        <p:spPr>
          <a:xfrm>
            <a:off x="298094" y="2404872"/>
            <a:ext cx="4159606" cy="896112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128016" tIns="128016" rIns="128016" bIns="128016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300" b="1">
                <a:solidFill>
                  <a:srgbClr val="B03A2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Health-office integration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Hand escalated incidents to Puskesmas / Dinas Kesehatan with the case list and retained-sample IDs.</a:t>
            </a:r>
          </a:p>
        </p:txBody>
      </p:sp>
      <p:sp>
        <p:nvSpPr>
          <p:cNvPr id="1112" name="MealQC 1112"/>
          <p:cNvSpPr/>
          <p:nvPr/>
        </p:nvSpPr>
        <p:spPr>
          <a:xfrm>
            <a:off x="4686300" y="2404872"/>
            <a:ext cx="4159606" cy="896112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128016" tIns="128016" rIns="128016" bIns="128016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300" b="1">
                <a:solidFill>
                  <a:srgbClr val="B03A2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More report channels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WhatsApp and school-staff intake feeding the same incident model.</a:t>
            </a:r>
          </a:p>
        </p:txBody>
      </p:sp>
      <p:sp>
        <p:nvSpPr>
          <p:cNvPr id="1113" name="MealQC 1113"/>
          <p:cNvSpPr/>
          <p:nvPr/>
        </p:nvSpPr>
        <p:spPr>
          <a:xfrm>
            <a:off x="298094" y="3438144"/>
            <a:ext cx="4159606" cy="896112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128016" tIns="128016" rIns="128016" bIns="128016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300" b="1">
                <a:solidFill>
                  <a:srgbClr val="8A5A12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Real accounts and audit export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Sign-in per role, per-kitchen tenancy, signed audit exports.</a:t>
            </a:r>
          </a:p>
        </p:txBody>
      </p:sp>
      <p:sp>
        <p:nvSpPr>
          <p:cNvPr id="1114" name="MealQC 1114"/>
          <p:cNvSpPr/>
          <p:nvPr/>
        </p:nvSpPr>
        <p:spPr>
          <a:xfrm>
            <a:off x="4686300" y="3438144"/>
            <a:ext cx="4159606" cy="896112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128016" tIns="128016" rIns="128016" bIns="128016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300" b="1">
                <a:solidFill>
                  <a:srgbClr val="8A5A12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Offline-first crew app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Queue photos when the kitchen’s connection drops; sync later.</a:t>
            </a:r>
          </a:p>
        </p:txBody>
      </p:sp>
      <p:sp>
        <p:nvSpPr>
          <p:cNvPr id="1115" name="MealQC 1115"/>
          <p:cNvSpPr txBox="1"/>
          <p:nvPr/>
        </p:nvSpPr>
        <p:spPr>
          <a:xfrm>
            <a:off x="298094" y="4553712"/>
            <a:ext cx="854781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4A575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model can be upgraded or swapped for a tuned endpoint by configuration alone.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4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MealQC 1116"/>
          <p:cNvSpPr txBox="1"/>
          <p:nvPr/>
        </p:nvSpPr>
        <p:spPr>
          <a:xfrm>
            <a:off x="298094" y="755294"/>
            <a:ext cx="85404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LINKS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>
                <a:solidFill>
                  <a:schemeClr val="dk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</a:p>
        </p:txBody>
      </p:sp>
      <p:sp>
        <p:nvSpPr>
          <p:cNvPr id="1117" name="MealQC 1117"/>
          <p:cNvSpPr/>
          <p:nvPr/>
        </p:nvSpPr>
        <p:spPr>
          <a:xfrm>
            <a:off x="298094" y="1371600"/>
            <a:ext cx="8547811" cy="804672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164592" tIns="164592" rIns="164592" bIns="16459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1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GitHub Public Repository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  <a:hlinkClick r:id="rId5"/>
              </a:rPr>
              <a:t>github.com/noiz354/altuhraK-ai-builder-cup-2026</a:t>
            </a:r>
          </a:p>
        </p:txBody>
      </p:sp>
      <p:sp>
        <p:nvSpPr>
          <p:cNvPr id="1118" name="MealQC 1118"/>
          <p:cNvSpPr/>
          <p:nvPr/>
        </p:nvSpPr>
        <p:spPr>
          <a:xfrm>
            <a:off x="298094" y="2331720"/>
            <a:ext cx="8547811" cy="804672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164592" tIns="164592" rIns="164592" bIns="16459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1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Demo Video Link (3 Minutes)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0">
                <a:solidFill>
                  <a:srgbClr val="B03A2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[YouTube link]</a:t>
            </a:r>
          </a:p>
        </p:txBody>
      </p:sp>
      <p:sp>
        <p:nvSpPr>
          <p:cNvPr id="1119" name="MealQC 1119"/>
          <p:cNvSpPr/>
          <p:nvPr/>
        </p:nvSpPr>
        <p:spPr>
          <a:xfrm>
            <a:off x="298094" y="3291840"/>
            <a:ext cx="8547811" cy="804672"/>
          </a:xfrm>
          <a:prstGeom prst="rect">
            <a:avLst/>
          </a:prstGeom>
          <a:solidFill>
            <a:schemeClr val="lt2"/>
          </a:solidFill>
          <a:ln w="9525">
            <a:solidFill>
              <a:schemeClr val="dk2"/>
            </a:solidFill>
          </a:ln>
        </p:spPr>
        <p:txBody>
          <a:bodyPr wrap="square" lIns="164592" tIns="164592" rIns="164592" bIns="16459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1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Final Product Link — start with the Guide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  <a:hlinkClick r:id="rId6"/>
              </a:rPr>
              <a:t>c05-frontend-723420820074.asia-southeast2.run.app</a:t>
            </a:r>
          </a:p>
        </p:txBody>
      </p:sp>
      <p:sp>
        <p:nvSpPr>
          <p:cNvPr id="1120" name="MealQC 1120"/>
          <p:cNvSpPr txBox="1"/>
          <p:nvPr/>
        </p:nvSpPr>
        <p:spPr>
          <a:xfrm>
            <a:off x="298094" y="4343400"/>
            <a:ext cx="854781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1F5B4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Meal QC · Know what went into every meal. People decide. Every step is audited.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 title="Frame 14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